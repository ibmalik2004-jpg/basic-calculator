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65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B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 at CitrusBit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our Scrum framework, sprint cycle, Jira workflow, and QA process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supervisor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Scrum?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organizing Agile teamwork into short, repeating cycles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is an Agile framework that breaks a big project into small, fixed-length cycles called Sprints — usually 2 weeks. Each sprint delivers a working piece of the product, so progress is visible every two weeks instead of once at the end.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251960"/>
            <a:ext cx="4754880" cy="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3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cost 2 weeks, not 2 years. Teams adjust direction constantly instead of discovering problems at the very end.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0B2B3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vs. Scrum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2514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launch at the 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weeks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1729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3172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everything's built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each sprint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83133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18120" y="383133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errors found late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8313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caught early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48970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18120" y="448970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 from day 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44897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&amp; welcomed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Scrum Roles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bosses — just three clear jobs that keep the team moving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252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4564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clients &amp; users, builds the master to-do list (Product Backlog), and decides what gets built first. And grooming of the User requirement 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796527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4FAF9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1031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252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4564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Shield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8862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write code. Protects the team from distractions and clears roadblocks so work keeps flowing.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4FA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21031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2520" dirty="0"/>
          </a:p>
        </p:txBody>
      </p:sp>
      <p:sp>
        <p:nvSpPr>
          <p:cNvPr id="19" name="Text 17"/>
          <p:cNvSpPr/>
          <p:nvPr/>
        </p:nvSpPr>
        <p:spPr>
          <a:xfrm>
            <a:off x="845820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8200" y="34564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58200" y="38862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Designers, engineers &amp; testers who actually build, test, and deliver the working software each sprint.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Artifacts &amp; The Sprint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 the team tracks, moving in one continuous 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8483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wish-list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90088" y="2423160"/>
            <a:ext cx="320040" cy="32004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19202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08483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promise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79008" y="2423160"/>
            <a:ext cx="320040" cy="32004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9202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08483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Work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(Scrum Team)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Daily Scrum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67928" y="2423160"/>
            <a:ext cx="320040" cy="32004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9006840" y="19202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208483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06840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feature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V="1">
            <a:off x="1783080" y="3291840"/>
            <a:ext cx="8412480" cy="685800"/>
          </a:xfrm>
          <a:prstGeom prst="bentConnector3">
            <a:avLst/>
          </a:prstGeom>
          <a:noFill/>
          <a:ln w="19050">
            <a:solidFill>
              <a:srgbClr val="5B6B6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828800" y="38862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feedback loops back into the next Sprint Planning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master list of every new feature and idea — ranked by the Product Owner.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44348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Backlog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4937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feature or idea is pulled from Backlog and team commits to finish it. 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21040" y="44348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49640" y="4937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working result at sprint end — a real, tested, usable piece of the product.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CitrusBit 2-Week Sprint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happens from Day 1 to Day 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1334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hrs. Pull tasks from Product Backlog, estimate effort, tag Must-Have / Good-to-Have / Optional.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87452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13343C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1874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874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2-8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514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Work &amp; Standups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20040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daily standup. 7 hrs/day expected effort (35 hrs/week). Work logged in Jira.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87452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1334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874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874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2514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Mid-Sprint Check-in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320040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30-min review to confirm the team is on track.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69480" y="187452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13343C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874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874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2514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Readying for QA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320040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work wraps up early and hands off to QA — testing isn't crammed into the last day.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09760" y="187452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13343C"/>
          </a:solidFill>
          <a:ln/>
        </p:spPr>
      </p:sp>
      <p:sp>
        <p:nvSpPr>
          <p:cNvPr id="25" name="Shape 23"/>
          <p:cNvSpPr/>
          <p:nvPr/>
        </p:nvSpPr>
        <p:spPr>
          <a:xfrm>
            <a:off x="9509760" y="1874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0" y="1874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46920" y="2514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+ Retrospective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46920" y="320040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1-hr Sprint Review (demo) + 30-min Retrospective (what to improve).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Standup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15-minute daily sync — same three questions, every morning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 do yesterday?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17830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20116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4434840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 do today?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17830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20116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092440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blocking me?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0B2B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Norms at CitrusBit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5720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productivity: 7 hours/day — 35 hrs/week, ~70 hrs per sprint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is logged daily in Jira so progress stays visible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handoff to QA happens on Day 9 — never crammed into the last day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Jira tickets for meetings, training, or admin — only real dev/deploy 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Jira 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is a digital card (“ticket”) that moves left to right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4160520"/>
          </a:xfrm>
          <a:prstGeom prst="roundRect">
            <a:avLst>
              <a:gd name="adj" fmla="val 3390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68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461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233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783080"/>
            <a:ext cx="2697480" cy="4160520"/>
          </a:xfrm>
          <a:prstGeom prst="roundRect">
            <a:avLst>
              <a:gd name="adj" fmla="val 3390"/>
            </a:avLst>
          </a:prstGeom>
          <a:solidFill>
            <a:srgbClr val="F4FAF9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78308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783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246888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468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32461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2461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2697480" cy="4160520"/>
          </a:xfrm>
          <a:prstGeom prst="roundRect">
            <a:avLst>
              <a:gd name="adj" fmla="val 3390"/>
            </a:avLst>
          </a:prstGeom>
          <a:solidFill>
            <a:srgbClr val="F4FA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78308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783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 / Testing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46888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468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2461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2461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52560" y="1783080"/>
            <a:ext cx="2697480" cy="4160520"/>
          </a:xfrm>
          <a:prstGeom prst="roundRect">
            <a:avLst>
              <a:gd name="adj" fmla="val 3390"/>
            </a:avLst>
          </a:prstGeom>
          <a:solidFill>
            <a:srgbClr val="F4FAF9"/>
          </a:solidFill>
          <a:ln/>
        </p:spPr>
      </p:sp>
      <p:sp>
        <p:nvSpPr>
          <p:cNvPr id="28" name="Shape 26"/>
          <p:cNvSpPr/>
          <p:nvPr/>
        </p:nvSpPr>
        <p:spPr>
          <a:xfrm>
            <a:off x="9052560" y="178308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7A8B8D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1783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235440" y="246888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72600" y="2468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35440" y="32461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32461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235440" y="402336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72600" y="40233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tools: Jira · Trello · Asana  —  CitrusBit runs on Jira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Ticket Types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in Jira is called an “Issue” — and always belongs to an Epic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feature/category that groups smaller tickets. Every task must belong to 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965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5074920" y="1920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as: As a [user], I want to [action], so that [benefit].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9659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823960" y="1920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/>
              <a:t>Enhancement</a:t>
            </a:r>
          </a:p>
        </p:txBody>
      </p:sp>
      <p:sp>
        <p:nvSpPr>
          <p:cNvPr id="18" name="Text 16"/>
          <p:cNvSpPr/>
          <p:nvPr/>
        </p:nvSpPr>
        <p:spPr>
          <a:xfrm>
            <a:off x="8321040" y="246888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behind-the-scenes work (e.g. setting up a database).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57200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or mistake in the existing system.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0690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507492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Request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57200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feature not in the original plan — usually billed extra.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0690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882396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Issue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457200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QA finds mid-sprint. Zero hours estimated — doesn't count as unplanned work.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&amp; Testing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~15-20% of every sprint's effort is dedicated to quality assurance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1334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688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15-20%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sprint effort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QA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78308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3343C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189280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Testing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22860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JMeter simulates thousands of concurrent users to make sure servers hold up.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66160" y="320040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3343C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331012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Testing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94760" y="37033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features are re-tested to confirm new code hasn't broken what already worked.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66160" y="461772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3343C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47274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Code Review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51206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scans code on the last day of the sprint for security flaws and messy code.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IP Protection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CitrusBit protects client code, data, and payments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38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lives in paid, private GitHub repositories — never public.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38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Local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databases and sales data stay on secure AWS servers, never copied to personal clouds.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4692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64692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380" dirty="0"/>
          </a:p>
        </p:txBody>
      </p:sp>
      <p:sp>
        <p:nvSpPr>
          <p:cNvPr id="17" name="Text 15"/>
          <p:cNvSpPr/>
          <p:nvPr/>
        </p:nvSpPr>
        <p:spPr>
          <a:xfrm>
            <a:off x="850392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Stored Cards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3520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details are never stored — payments pass securely through Stripe or Braintree.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Sprint Workflow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in 2-week Sprints — planned Day 1, reviewed Day 10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keep it running: Product Owner, Scrum Master, Developers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is a Jira ticket, tagged under an Epic, moved To Do → Done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gets 15-20% of every sprint, with load, regression &amp; code-review checks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built in: private repos, AWS-only data, no stored card details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1040</Words>
  <Application>Microsoft Office PowerPoint</Application>
  <PresentationFormat>Widescreen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Ibrahim Malik</cp:lastModifiedBy>
  <cp:revision>7</cp:revision>
  <dcterms:created xsi:type="dcterms:W3CDTF">2026-07-16T13:18:21Z</dcterms:created>
  <dcterms:modified xsi:type="dcterms:W3CDTF">2026-07-17T05:44:16Z</dcterms:modified>
</cp:coreProperties>
</file>